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Automated %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Research &amp; drafting</c:v>
                  </c:pt>
                  <c:pt idx="1">
                    <c:v>Filing prep &amp; data entry</c:v>
                  </c:pt>
                  <c:pt idx="2">
                    <c:v>Carrier outreach emails</c:v>
                  </c:pt>
                  <c:pt idx="3">
                    <c:v>Inbox monitoring</c:v>
                  </c:pt>
                  <c:pt idx="4">
                    <c:v>Status reporting</c:v>
                  </c:pt>
                  <c:pt idx="5">
                    <c:v>Portal submission</c:v>
                  </c:pt>
                  <c:pt idx="6">
                    <c:v>Contract review</c:v>
                  </c:pt>
                  <c:pt idx="7">
                    <c:v>Carrier calls</c:v>
                  </c:pt>
                  <c:pt idx="8">
                    <c:v>Signatures / wires</c:v>
                  </c:pt>
                  <c:pt idx="9">
                    <c:v>Strategic decisions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95</c:v>
                </c:pt>
                <c:pt idx="1">
                  <c:v>92</c:v>
                </c:pt>
                <c:pt idx="2">
                  <c:v>85</c:v>
                </c:pt>
                <c:pt idx="3">
                  <c:v>90</c:v>
                </c:pt>
                <c:pt idx="4">
                  <c:v>95</c:v>
                </c:pt>
                <c:pt idx="5">
                  <c:v>70</c:v>
                </c:pt>
                <c:pt idx="6">
                  <c:v>75</c:v>
                </c:pt>
                <c:pt idx="7">
                  <c:v>25</c:v>
                </c:pt>
                <c:pt idx="8">
                  <c:v>10</c:v>
                </c:pt>
                <c:pt idx="9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Human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Research &amp; drafting</c:v>
                  </c:pt>
                  <c:pt idx="1">
                    <c:v>Filing prep &amp; data entry</c:v>
                  </c:pt>
                  <c:pt idx="2">
                    <c:v>Carrier outreach emails</c:v>
                  </c:pt>
                  <c:pt idx="3">
                    <c:v>Inbox monitoring</c:v>
                  </c:pt>
                  <c:pt idx="4">
                    <c:v>Status reporting</c:v>
                  </c:pt>
                  <c:pt idx="5">
                    <c:v>Portal submission</c:v>
                  </c:pt>
                  <c:pt idx="6">
                    <c:v>Contract review</c:v>
                  </c:pt>
                  <c:pt idx="7">
                    <c:v>Carrier calls</c:v>
                  </c:pt>
                  <c:pt idx="8">
                    <c:v>Signatures / wires</c:v>
                  </c:pt>
                  <c:pt idx="9">
                    <c:v>Strategic decisions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8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  <c:pt idx="5">
                  <c:v>30</c:v>
                </c:pt>
                <c:pt idx="6">
                  <c:v>25</c:v>
                </c:pt>
                <c:pt idx="7">
                  <c:v>75</c:v>
                </c:pt>
                <c:pt idx="8">
                  <c:v>90</c:v>
                </c:pt>
                <c:pt idx="9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-914400"/>
            <a:ext cx="3657600" cy="365760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-457200"/>
            <a:ext cx="2743200" cy="274320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1E2761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Operator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for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Regulated Launches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operator. A team of AI agents. 10x throughput on VoIP company launches.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5852160"/>
            <a:ext cx="13716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Engineering Brief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·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Launching a US VoIP company is a 100-hour, 6-week paper grind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VoIP carrier launch requires the same painful sequence: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73152" cy="86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03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FCC filings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3957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499-A/Q, RMD registration, Section 214, STIR/SHAKEN — each with its own portal, deadlines, and penalties for errors.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73152" cy="86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108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CPCNs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40156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different processes. Some require notarized signatures, wet ink, hearings, and weeks of waiting.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73152" cy="86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114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onboarding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40740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applications, deposits, MSAs, KYC calls with 5–10 wholesale carriers before routes are live.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73152" cy="86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120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overhead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541324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USF contributions, CPNI certification, annual filings — ongoing forever.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1554480"/>
            <a:ext cx="25146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1828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583680" y="2788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launch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81160" y="1554480"/>
            <a:ext cx="25146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81160" y="1828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4–6 wk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9281160" y="27889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live route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3749040"/>
            <a:ext cx="25146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0" y="40233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$15K+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6583680" y="4983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cost (legal + fees)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81160" y="3749040"/>
            <a:ext cx="25146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81160" y="40233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9281160" y="4983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operator / month today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always-on team of AI agents, supervised by one human operator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182880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00D4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246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468880" y="3840480"/>
            <a:ext cx="109728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246888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0" y="29260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00D4FF"/>
          </a:solidFill>
          <a:ln w="25400">
            <a:solidFill>
              <a:srgbClr val="0891B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31546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F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0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57600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Queue · Memory · Audit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309360" y="3840480"/>
            <a:ext cx="91440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6" name="Text 12"/>
          <p:cNvSpPr/>
          <p:nvPr/>
        </p:nvSpPr>
        <p:spPr>
          <a:xfrm>
            <a:off x="6309360" y="3520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315200" y="2743200"/>
            <a:ext cx="1005840" cy="100584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9260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2376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8595360" y="2743200"/>
            <a:ext cx="1005840" cy="100584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29260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0392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Docs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7315200" y="3931920"/>
            <a:ext cx="1005840" cy="100584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411480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23760" y="4572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8595360" y="3931920"/>
            <a:ext cx="1005840" cy="1005840"/>
          </a:xfrm>
          <a:prstGeom prst="ellipse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411480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503920" y="4572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9692640" y="3840480"/>
            <a:ext cx="91440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30" name="Text 22"/>
          <p:cNvSpPr/>
          <p:nvPr/>
        </p:nvSpPr>
        <p:spPr>
          <a:xfrm>
            <a:off x="9692640" y="3520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10698480" y="2926080"/>
            <a:ext cx="1188720" cy="1828800"/>
          </a:xfrm>
          <a:prstGeom prst="ellipse">
            <a:avLst/>
          </a:prstGeom>
          <a:solidFill>
            <a:srgbClr val="0F1A4A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7080" y="3246120"/>
            <a:ext cx="731520" cy="7315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0698480" y="40690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0698480" y="4297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FCC · States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457200" y="5212080"/>
            <a:ext cx="3749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349240"/>
            <a:ext cx="320040" cy="32004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051560" y="5303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</a:t>
            </a:r>
            <a:endParaRPr lang="en-US" sz="1300" dirty="0"/>
          </a:p>
        </p:txBody>
      </p:sp>
      <p:sp>
        <p:nvSpPr>
          <p:cNvPr id="38" name="Text 28"/>
          <p:cNvSpPr/>
          <p:nvPr/>
        </p:nvSpPr>
        <p:spPr>
          <a:xfrm>
            <a:off x="640080" y="5669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24/7 in the cloud — research, drafts, replies stack up overnight.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4389120" y="5212080"/>
            <a:ext cx="3749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5349240"/>
            <a:ext cx="320040" cy="32004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4983480" y="5303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in control</a:t>
            </a:r>
            <a:endParaRPr lang="en-US" sz="1300" dirty="0"/>
          </a:p>
        </p:txBody>
      </p:sp>
      <p:sp>
        <p:nvSpPr>
          <p:cNvPr id="42" name="Text 31"/>
          <p:cNvSpPr/>
          <p:nvPr/>
        </p:nvSpPr>
        <p:spPr>
          <a:xfrm>
            <a:off x="4572000" y="5669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regulated or external action waits in your approval queue. Telegram approve on mobile.</a:t>
            </a:r>
            <a:endParaRPr lang="en-US" sz="1000" dirty="0"/>
          </a:p>
        </p:txBody>
      </p:sp>
      <p:sp>
        <p:nvSpPr>
          <p:cNvPr id="43" name="Shape 32"/>
          <p:cNvSpPr/>
          <p:nvPr/>
        </p:nvSpPr>
        <p:spPr>
          <a:xfrm>
            <a:off x="8321040" y="5212080"/>
            <a:ext cx="3749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3920" y="5349240"/>
            <a:ext cx="320040" cy="32004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8915400" y="5303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Playbook-driven</a:t>
            </a:r>
            <a:endParaRPr lang="en-US" sz="1300" dirty="0"/>
          </a:p>
        </p:txBody>
      </p:sp>
      <p:sp>
        <p:nvSpPr>
          <p:cNvPr id="46" name="Text 34"/>
          <p:cNvSpPr/>
          <p:nvPr/>
        </p:nvSpPr>
        <p:spPr>
          <a:xfrm>
            <a:off x="8503920" y="56692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Codified VoIP launch process — repeatable, auditable, improvable per client.</a:t>
            </a:r>
            <a:endParaRPr lang="en-US" sz="1000" dirty="0"/>
          </a:p>
        </p:txBody>
      </p:sp>
      <p:sp>
        <p:nvSpPr>
          <p:cNvPr id="47" name="Text 35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48" name="Text 36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growing wholesale VoIP market, served by overworked consultants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75488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00200"/>
            <a:ext cx="73152" cy="13258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7335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$200B+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VoIP market by 2028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 CAGR; US the largest single market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475488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017520"/>
            <a:ext cx="73152" cy="13258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906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6,000+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36118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CLECs and resellers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904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requires ongoing FCC + state compliance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475488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434840"/>
            <a:ext cx="73152" cy="13258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5079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85800" y="50292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entrants annually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321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voice, BPO outsourcers, MVNOs, agencies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1554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us</a:t>
            </a:r>
            <a:endParaRPr lang="en-US" sz="16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130552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309360" y="20574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CLECs &amp; VoIP resellers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09360" y="23500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launching their first carrier. $5K–$15K per launch package.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999232"/>
            <a:ext cx="256032" cy="25603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309360" y="2926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&amp; calling startups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309360" y="32186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US telephony footprint fast. Outsource the whole stack.</a:t>
            </a:r>
            <a:endParaRPr lang="en-US" sz="10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867912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09360" y="3794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BPOs entering US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309360" y="4087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/ PH operators need US 499 / RMD presence to sell to US clients.</a:t>
            </a:r>
            <a:endParaRPr lang="en-US" sz="10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736592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309360" y="4663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carriers expanding states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309360" y="49560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want to staff a compliance department — buy retainer service.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57200" y="5806440"/>
            <a:ext cx="1124712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40080" y="5897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2103120" y="589788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STIR/SHAKEN enforcement + cheap LLM tool-use + Claude Agent SDK make this build viable in 2026 — not 2023.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36576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4069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building, how it works, who uses it.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SURFACE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modules that turn one operator into a launch factory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21608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88366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5564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Workspaces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2377440"/>
            <a:ext cx="3355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project per client: docs, creds, agent memory, status.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70248" y="1554480"/>
            <a:ext cx="3721608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0248" y="1554480"/>
            <a:ext cx="73152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98848" y="17830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188366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38928" y="175564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98848" y="2377440"/>
            <a:ext cx="3355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specialist agents — managed by a PM agent. Each has scoped tools.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83296" y="1554480"/>
            <a:ext cx="3721608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83296" y="1554480"/>
            <a:ext cx="73152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11896" y="17830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88366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51976" y="175564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Queue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11896" y="2377440"/>
            <a:ext cx="3355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action waits for you. Approve, edit, reject, batch.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154680"/>
            <a:ext cx="3721608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154680"/>
            <a:ext cx="73152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48386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25880" y="335584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Hub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85800" y="3977640"/>
            <a:ext cx="3355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Filings, contracts, certs. Versioned, DocuSign-ready, searchable.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70248" y="3154680"/>
            <a:ext cx="3721608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270248" y="3154680"/>
            <a:ext cx="73152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498848" y="3383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3483864"/>
            <a:ext cx="301752" cy="30175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138928" y="335584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Center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498848" y="3977640"/>
            <a:ext cx="3355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inbox across all clients. Drafts queued for review.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083296" y="3154680"/>
            <a:ext cx="3721608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083296" y="3154680"/>
            <a:ext cx="73152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311896" y="3383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3483864"/>
            <a:ext cx="301752" cy="30175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951976" y="335584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8311896" y="3977640"/>
            <a:ext cx="3355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Codified workflows. VoIP launch v1. Edit and improve per win.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457200" y="4754880"/>
            <a:ext cx="3721608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457200" y="4754880"/>
            <a:ext cx="73152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85800" y="4983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5084064"/>
            <a:ext cx="301752" cy="301752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325880" y="495604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Vault</a:t>
            </a:r>
            <a:endParaRPr lang="en-US" sz="1400" dirty="0"/>
          </a:p>
        </p:txBody>
      </p:sp>
      <p:sp>
        <p:nvSpPr>
          <p:cNvPr id="45" name="Text 36"/>
          <p:cNvSpPr/>
          <p:nvPr/>
        </p:nvSpPr>
        <p:spPr>
          <a:xfrm>
            <a:off x="685800" y="5577840"/>
            <a:ext cx="3355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per-client. Audit log of every access by any agent.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4270248" y="4754880"/>
            <a:ext cx="3721608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4270248" y="4754880"/>
            <a:ext cx="73152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4498848" y="4983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9432" y="5084064"/>
            <a:ext cx="301752" cy="30175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5138928" y="495604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Billing</a:t>
            </a:r>
            <a:endParaRPr lang="en-US" sz="1400" dirty="0"/>
          </a:p>
        </p:txBody>
      </p:sp>
      <p:sp>
        <p:nvSpPr>
          <p:cNvPr id="51" name="Text 41"/>
          <p:cNvSpPr/>
          <p:nvPr/>
        </p:nvSpPr>
        <p:spPr>
          <a:xfrm>
            <a:off x="4498848" y="5577840"/>
            <a:ext cx="3355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ops briefing, weekly client report, Stripe invoicing.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083296" y="4754880"/>
            <a:ext cx="3721608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8083296" y="4754880"/>
            <a:ext cx="73152" cy="1508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8311896" y="49834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0" y="5084064"/>
            <a:ext cx="301752" cy="301752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8951976" y="495604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Logs</a:t>
            </a:r>
            <a:endParaRPr lang="en-US" sz="1400" dirty="0"/>
          </a:p>
        </p:txBody>
      </p:sp>
      <p:sp>
        <p:nvSpPr>
          <p:cNvPr id="57" name="Text 46"/>
          <p:cNvSpPr/>
          <p:nvPr/>
        </p:nvSpPr>
        <p:spPr>
          <a:xfrm>
            <a:off x="8311896" y="5577840"/>
            <a:ext cx="3355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trail of every agent action. Your legal protection.</a:t>
            </a:r>
            <a:endParaRPr lang="en-US" sz="1000" dirty="0"/>
          </a:p>
        </p:txBody>
      </p:sp>
      <p:sp>
        <p:nvSpPr>
          <p:cNvPr id="58" name="Text 47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59" name="Text 48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ROSTER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 specialists, one Project Manager — scoped tools, scoped risk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749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goals, assigns tasks, generates daily briefing.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7680" y="1554480"/>
            <a:ext cx="3749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67335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480560" y="21488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FCC 499, RMD, STIR/SHAKEN, Section 214, state CPCN.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55448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38160" y="1554480"/>
            <a:ext cx="3749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67335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321040" y="21488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ToS, AUP, LOAs, reviews carrier MSAs, flags risk.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297180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2971800"/>
            <a:ext cx="3749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09067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Outreach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40080" y="35661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Researches, applies, follows up with wholesale carriers.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297180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297680" y="2971800"/>
            <a:ext cx="3749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309067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00600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480560" y="35661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client inboxes, drafts replies, escalates urgency.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297180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38160" y="2971800"/>
            <a:ext cx="3749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309067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41080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321040" y="35661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monitoring, competitive intel, ad-hoc Q&amp;A.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57200" y="438912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57200" y="4389120"/>
            <a:ext cx="3749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507992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60120" y="4498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Brand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40080" y="49834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pages, copy, logo concepts, basic SEO.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297680" y="438912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297680" y="4389120"/>
            <a:ext cx="3749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2272" y="4507992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4800600" y="4498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4480560" y="49834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expense tracking, deposit reconciliation.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138160" y="4389120"/>
            <a:ext cx="37490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138160" y="4389120"/>
            <a:ext cx="3749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2752" y="4507992"/>
            <a:ext cx="274320" cy="27432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641080" y="4498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8321040" y="49834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ops digest, weekly client reports, audit summaries.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5870448"/>
            <a:ext cx="256032" cy="256032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100584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runs under a scoped tool whitelist. No agent can spend money, send external email, or sign without queue approval.</a:t>
            </a:r>
            <a:endParaRPr lang="en-US" sz="1050" dirty="0"/>
          </a:p>
        </p:txBody>
      </p:sp>
      <p:sp>
        <p:nvSpPr>
          <p:cNvPr id="52" name="Text 40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53" name="Text 41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day with Switchboard — async, batched, mobile-first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05840" y="1691640"/>
            <a:ext cx="54864" cy="4572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411480" cy="4114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6002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— Morning briefing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Agent has summarized overnight: 3 clients with progress, 5 approvals pending, 2 carrier replies, 1 deadline at risk.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411480" cy="4114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3774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08:15 — Batch approvals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6974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through queue: approve 4 carrier emails, reject 1 (wrong tone), edit and approve 1 FCC filing draft.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411480" cy="4114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31546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— Strategic calls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747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carrier credit calls. Compliance Agent prepped briefing docs the night before with talking points.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411480" cy="4114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9319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— Client check-in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251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weekly client report drafted by Reporting Agent. Edit, approve, auto-send via Comms.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4754880"/>
            <a:ext cx="411480" cy="4114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47091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 — Mobile approvals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5029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pings: DocuSign envelope ready. Tap to review, tap to sign. Email reply from a carrier — approve and send.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5532120"/>
            <a:ext cx="411480" cy="4114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54864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 — Playbook update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8064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Noticed a recurring carrier requirement. Edit the playbook so future clients get it in pre-fill stage.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36576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Architecture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4069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is engineered to hit 85% automation reliably.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Cloud-hosted, layered, observable end-to-end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92608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83210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7373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dashboard · Mobile-responsive · Telegram bot for approvals · Email digests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2926080" cy="868680"/>
          </a:xfrm>
          <a:prstGeom prst="rect">
            <a:avLst/>
          </a:prstGeom>
          <a:solidFill>
            <a:srgbClr val="0F1A4A"/>
          </a:solidFill>
          <a:ln w="12700">
            <a:solidFill>
              <a:srgbClr val="0F1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2514600"/>
            <a:ext cx="83210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6974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Agent · Task queue (Celery + Redis) · Approval gateway · Scheduler (Temporal-style)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292608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11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0" y="3474720"/>
            <a:ext cx="83210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6576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 · Scoped tool whitelists per agent · Memory store (Postgres + Qdrant) · Conversation logs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2926080" cy="86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72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4434840"/>
            <a:ext cx="83210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46177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· DocuSign · Stripe · Bandwidth · Telnyx · FCC CORES · State PUC · Playwright workers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394960"/>
            <a:ext cx="2926080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532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5852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0" y="5394960"/>
            <a:ext cx="83210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55778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Redis · S3-compatible object store · HashiCorp Vault / Infisical · Sentry · CloudWatch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entities — what every dev needs to wire up first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834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8346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910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EIN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playbook_id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created_at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55848" y="1554480"/>
            <a:ext cx="2834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5848" y="1554480"/>
            <a:ext cx="28346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5910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93008" y="19659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client_id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playbook_id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progress_pct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54496" y="1554480"/>
            <a:ext cx="2834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4496" y="1554480"/>
            <a:ext cx="28346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15910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91656" y="19659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project_id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agent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input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output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created_at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53144" y="1554480"/>
            <a:ext cx="2834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53144" y="1554480"/>
            <a:ext cx="28346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0304" y="15910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90304" y="19659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task_id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action_type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payload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decision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reviewer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127248"/>
            <a:ext cx="2834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27248"/>
            <a:ext cx="28346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1638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AgentRun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53872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agent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task_id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tokens_in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tokens_out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cost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duration_ms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55848" y="3127248"/>
            <a:ext cx="2834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55848" y="3127248"/>
            <a:ext cx="28346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31638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93008" y="353872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client_id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s3_key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docusign_id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signed_at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54496" y="3127248"/>
            <a:ext cx="2834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54496" y="3127248"/>
            <a:ext cx="28346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1656" y="31638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91656" y="353872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client_id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service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vault_ref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scope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expires_at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53144" y="3127248"/>
            <a:ext cx="2834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53144" y="3127248"/>
            <a:ext cx="28346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90304" y="31638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90304" y="353872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client_id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kind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oauth_token_ref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last_sync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700016"/>
            <a:ext cx="2834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700016"/>
            <a:ext cx="28346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7365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360" y="5111496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client_id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channel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thread_id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draft_by_agent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sent_ts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55848" y="4700016"/>
            <a:ext cx="2834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55848" y="4700016"/>
            <a:ext cx="28346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93008" y="47365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AuditLog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493008" y="5111496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actor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subject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before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after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54496" y="4700016"/>
            <a:ext cx="2834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54496" y="4700016"/>
            <a:ext cx="28346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1656" y="47365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91656" y="5111496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client_id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amount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stripe_id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due_date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153144" y="4700016"/>
            <a:ext cx="2834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53144" y="4700016"/>
            <a:ext cx="28346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90304" y="47365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PlaybookStep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290304" y="5111496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playbook_id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order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agent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prompt_template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tool_scope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Pluggable API layer — every agent gets the tools its role needs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76472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3776472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456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API (OAuth)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(Outlook)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 / WhatsApp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776472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554480"/>
            <a:ext cx="3776472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64592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Signing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2103120"/>
            <a:ext cx="3456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 eSign API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Sign / HelloSign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Cloudflare R2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/ Dropbox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776472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554480"/>
            <a:ext cx="3776472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64592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&amp; Compliance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2103120"/>
            <a:ext cx="3456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API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Telnyx API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iconectiv (STIR/SHAKEN)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FCC CORES (browser)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PUC portals (Playwright)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41648"/>
            <a:ext cx="3776472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041648"/>
            <a:ext cx="3776472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33088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CRM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590288"/>
            <a:ext cx="3456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(billing)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/ Xero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(deposit reconciliation)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/ Pipedrive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4041648"/>
            <a:ext cx="3776472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4041648"/>
            <a:ext cx="3776472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4133088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Search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4590288"/>
            <a:ext cx="3456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 (primary)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(fallback)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/ SerpAPI (web search)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/ Pinecone (memory)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4041648"/>
            <a:ext cx="3776472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8160" y="4041648"/>
            <a:ext cx="3776472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4133088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040" y="4590288"/>
            <a:ext cx="34564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/ Render (host)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(errors)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/ Infisical (secrets)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(CI/CD)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approval queue is the product — not the agents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classification (built per tool, per agent):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3716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574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— Auto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reads, research, drafting in scratchpad, summary generation.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13716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17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— Auto + Notify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status emails to client, calendar invites, doc filing to S3.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37160" cy="86868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9776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— Approve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297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emails to carriers / regulators, contract changes, web edits.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37160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37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— Sign / Pay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5257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submission, e-signature, wire transfer authorization, MSA sign-off.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0" y="1554480"/>
            <a:ext cx="5303520" cy="4709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554480"/>
            <a:ext cx="5303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  ·  T2  ·  client: acme-voip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Outreach Agent → wants to send: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2514600"/>
            <a:ext cx="4937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60604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To: onboarding@telnyx.com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Subject: Wholesale Application — Acme VoIP LLC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 team — Acme VoIP LLC (EIN 99-1234567) is FCC 499 filer 832XXX, RMD listed, STIR/SHAKEN A-attestation via iconectiv. We're requesting wholesale termination at 250K MOU/mo. Initial deposit $15K wired on approval. Attached: 499 cert, RMD entry, MSA signed by officer...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4983480"/>
            <a:ext cx="13258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5029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4983480"/>
            <a:ext cx="13258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5029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Send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09760" y="4983480"/>
            <a:ext cx="13258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0" y="5029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5532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ID: apr_7f3a91 · context, diff, prior versions one click away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5806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same card delivered via Telegram inline buttons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36576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Hitting 85%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4069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automation comes from — and what stays human, by design.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BREAKDOWN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Per-phase automation potential vs human residual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11247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897880"/>
            <a:ext cx="374904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5943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~80%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874520" y="5989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weighted average at maturity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97680" y="5897880"/>
            <a:ext cx="374904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34840" y="5943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10x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715000" y="5989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throughput (clients/month)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138160" y="5897880"/>
            <a:ext cx="374904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5943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7–10d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555480" y="5989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launch time vs 4–6 weeks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FOR 85%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concrete tactics that move the dial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778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647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19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compiler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0574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pre-defined: agent, prompt template, tool whitelist, output schema, checkpoint. Reduces freelance reasoning errors.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55778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53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2907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 memory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3246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intake captures every datum once. Agents auto-fill 50+ form fields across FCC, state, carrier apps without re-asking.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5778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422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25880" y="4096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playbooks per vendor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4434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Telnyx, Bandwidth, Inteliquent each have their own scripted onboarding flow with known-good email templates and required attachments.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55778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303520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309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5285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Browser-automation worker pool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56235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cluster handles state PUC portals with screenshot diffs, retries, and human-handoff on layout changes.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1554480"/>
            <a:ext cx="55778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1737360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7647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95160" y="1719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approvals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5160" y="20574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approves 20 items in one session twice daily. Auto-approve rules for T1 actions cut queue volume 60%.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743200"/>
            <a:ext cx="55778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926080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953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95160" y="2907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retrieval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95160" y="3246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store of past filings, carrier conversations, regulatory notices. Agents cite prior work instead of regenerating.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3931920"/>
            <a:ext cx="557784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4114800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1422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995160" y="4096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playbook learning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95160" y="4434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edits / rejections feed back into prompt templates and checklists. Every client makes the next one cheaper.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15%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stays human — by law, by liability, by judgment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91440" cy="86868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0136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9019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0992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signatures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03911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FCC 499 must be signed by an officer under penalty of perjury. STIR/SHAKEN token issuance requires live officer vetting via iconectiv.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112471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560320"/>
            <a:ext cx="91440" cy="86868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276148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86207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67004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credit calls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17320" y="299923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underwriting teams want 15–30 min calls with a human. No way around it for first onboarding.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520440"/>
            <a:ext cx="112471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3520440"/>
            <a:ext cx="91440" cy="86868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" y="372160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82219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6301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authorization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417320" y="395935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deposit, fee, and large payment is operator-signed. Removing this means an agent can drain accounts.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4480560"/>
            <a:ext cx="112471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200" y="4480560"/>
            <a:ext cx="91440" cy="86868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7240" y="468172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782312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17320" y="459028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choices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417320" y="491947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selection, pricing, scope negotiation, client escalation — judgment, not pattern matching.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7200" y="5440680"/>
            <a:ext cx="91440" cy="868680"/>
          </a:xfrm>
          <a:prstGeom prst="rect">
            <a:avLst/>
          </a:prstGeom>
          <a:solidFill>
            <a:srgbClr val="FFB400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77240" y="564184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742432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17320" y="555040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edge cases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417320" y="587959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PUC sites change layouts. ~5–15% of submissions need operator intervention. Always will.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phases, MVP in 6 weeks, full platform in 6 months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807208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2807208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4871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workspaces + auth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+ Compliance + Document agents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queue + Telegram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+ Gmail + DocuSign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live: 1–2 real clients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508760"/>
            <a:ext cx="2807208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508760"/>
            <a:ext cx="28072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6459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Comms + carriers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23317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2743200"/>
            <a:ext cx="24871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Agent (inbox monitoring)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Outreach Agent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worker pool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billing + invoicing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ops + weekly client reports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807208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508760"/>
            <a:ext cx="28072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6459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192024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+ verticals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55080" y="23317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15–22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743200"/>
            <a:ext cx="24871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+ Web/Brand agents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editor (operator UI)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API connector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/ Telnyx native integrations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&amp; retrieval (Qdrant)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98280" y="1508760"/>
            <a:ext cx="2807208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98280" y="1508760"/>
            <a:ext cx="28072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6459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35440" y="1920240"/>
            <a:ext cx="262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&amp; expansion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35440" y="2331720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23+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81160" y="2743200"/>
            <a:ext cx="24871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Multi-operator (assistant accounts)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vertical playbook (BPO, MSP, or e-com)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read-only portal (optional)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readiness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for partners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Boring where it can be, sharp where it counts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764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8379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37360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14 (App Router) · React · TailwindCSS · shadcn/ui · TanStack Query · Zustand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7764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1737360"/>
            <a:ext cx="502920" cy="5029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8379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737360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80560" y="2331720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3.12 · FastAPI · Pydantic v2 · SQLAlchemy 2.x · Alembic migrations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554480"/>
            <a:ext cx="37764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1737360"/>
            <a:ext cx="502920" cy="5029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83794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1737360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21040" y="2331720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Agent SDK · structured tools · per-agent tool whitelist · prompt-template registry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127248"/>
            <a:ext cx="37764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3310128"/>
            <a:ext cx="502920" cy="5029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410712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310128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3904488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Celery + Redis (queue) · Temporal-style workflows for long-running launches · APScheduler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97680" y="3127248"/>
            <a:ext cx="37764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80560" y="3310128"/>
            <a:ext cx="502920" cy="5029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44" y="3410712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310128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80560" y="3904488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16 · Redis · Qdrant (vector) · S3-compatible (Cloudflare R2) · Litestream backups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3127248"/>
            <a:ext cx="37764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21040" y="3310128"/>
            <a:ext cx="502920" cy="5029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3410712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3310128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21040" y="3904488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 (Python) workers · Browserbase or self-hosted on Hetzner · screenshot diff CI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57200" y="4700016"/>
            <a:ext cx="37764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40080" y="4882896"/>
            <a:ext cx="502920" cy="5029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4983480"/>
            <a:ext cx="301752" cy="30175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80160" y="4882896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40080" y="5477256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Infisical (open-source) or HashiCorp Vault · per-client KMS keys · OAuth token rotation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297680" y="4700016"/>
            <a:ext cx="37764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480560" y="4882896"/>
            <a:ext cx="502920" cy="5029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144" y="4983480"/>
            <a:ext cx="301752" cy="30175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20640" y="4882896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4480560" y="5477256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Railway (MVP) → AWS (scale) · Docker · GitHub Actions CI/CD · Terraform for prod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8138160" y="4700016"/>
            <a:ext cx="37764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321040" y="4882896"/>
            <a:ext cx="502920" cy="50292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00D4FF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1624" y="4983480"/>
            <a:ext cx="301752" cy="30175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961120" y="4882896"/>
            <a:ext cx="2862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8321040" y="5477256"/>
            <a:ext cx="3456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Sentry (errors) · OpenTelemetry · Grafana Cloud · agent run logs in Postgres + structured JSON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Productized service today, platform tomorrow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49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$7,500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3108960"/>
            <a:ext cx="3291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0040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FCC 499 + RMD + STIR/SHAKEN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carrier onboarding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state CPCN (1 state)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support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3749040" cy="4206240"/>
          </a:xfrm>
          <a:prstGeom prst="rect">
            <a:avLst/>
          </a:prstGeom>
          <a:solidFill>
            <a:srgbClr val="1E2761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$12,500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2628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3108960"/>
            <a:ext cx="329184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20040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Launch Pack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carriers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states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+ landing site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7490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0A1538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1737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RETAINER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6676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$1,500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36676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66760" y="3108960"/>
            <a:ext cx="3291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320040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FCC + state filings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499-Q quarterly + CPNI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carrier add/quarter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87044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/ client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61488" y="587044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61488" y="61722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costs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74336" y="587044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74336" y="61722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infra cost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87184" y="587044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~35h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87184" y="61722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time @ maturity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400032" y="587044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00032" y="617220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worry about — and what we're doing about 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778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6420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make a regulated-filing mistake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T3 approval queue blocks every external filing. Two-step review on FCC submissions. Insurance: E&amp;O policy from day 1.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1554480"/>
            <a:ext cx="55778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0" y="1554480"/>
            <a:ext cx="55778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6420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Browser-automation breakage on state portals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309360" y="21031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Visual diff CI, fallback to human worker in 60s, monthly portal audit. We expect 5–15% manual; not all states automate.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154680"/>
            <a:ext cx="55778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3154680"/>
            <a:ext cx="55778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6440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relationships punish automation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37033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Carriers care about deposits and clean paperwork — both improve with us. Operator is on every carrier call.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26480" y="3154680"/>
            <a:ext cx="55778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126480" y="3154680"/>
            <a:ext cx="55778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26440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8368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cost spikes with scale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309360" y="37033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Per-client cost cap, cached retrieval, smaller models for T0 tasks, Claude Haiku for routine drafts; Sonnet for filings.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4754880"/>
            <a:ext cx="55778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" y="4754880"/>
            <a:ext cx="55778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864608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440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data / credential breach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40080" y="53035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Per-tenant KMS keys, secrets in vault not DB, audit log immutable, SOC 2 readiness by month 9.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26480" y="4754880"/>
            <a:ext cx="5577840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26480" y="4754880"/>
            <a:ext cx="557784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4864608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8368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burnout (single point of failure)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09360" y="53035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Phase 4 introduces assistant accounts. Playbooks let a junior operator handle T1/T2 within 30 days of training.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9144000" y="6492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754880"/>
            <a:ext cx="4572000" cy="45720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0" y="-1828800"/>
            <a:ext cx="4114800" cy="4114800"/>
          </a:xfrm>
          <a:prstGeom prst="ellipse">
            <a:avLst/>
          </a:prstGeom>
          <a:solidFill>
            <a:srgbClr val="1E2761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platform.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 first 20 clients. Become the default for US VoIP launches.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544068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round to fund 9-month build + 12-month runway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 70% engineering, 15% legal &amp; compliance, 15% GTM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30 paid clients by month 12, $300K+ ARR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vertical playbook in month 9 — multiplier on the platform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743200"/>
            <a:ext cx="544068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DEV TEAM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324612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lock data model, set up monorepo, ship auth + workspaces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2–3: Claude Agent SDK integration, Compliance Agent v0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4–5: approval queue, Telegram bot, Gmail OAuth, DocuSign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6: live with 1 real client (your VoIP launch)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6263640"/>
            <a:ext cx="18288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Switchboard · The AI Operator Platform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Switchboard — AI Operator Platform</dc:title>
  <dc:subject>PptxGenJS Presentation</dc:subject>
  <dc:creator>Switchboard</dc:creator>
  <cp:lastModifiedBy>Switchboard</cp:lastModifiedBy>
  <cp:revision>1</cp:revision>
  <dcterms:created xsi:type="dcterms:W3CDTF">2026-05-19T16:15:39Z</dcterms:created>
  <dcterms:modified xsi:type="dcterms:W3CDTF">2026-05-19T16:15:39Z</dcterms:modified>
</cp:coreProperties>
</file>